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1201400" cy="5806440"/>
          </a:xfrm>
          <a:prstGeom prst="roundRect">
            <a:avLst/>
          </a:prstGeom>
          <a:solidFill>
            <a:srgbClr val="FFFFFF"/>
          </a:solidFill>
          <a:ln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822960"/>
            <a:ext cx="1508760" cy="50292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Long Châu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04672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800" b="1">
                <a:solidFill>
                  <a:srgbClr val="0052D9"/>
                </a:solidFill>
                <a:latin typeface="Arial"/>
              </a:rPr>
              <a:t>Long Châu Safety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Arial"/>
              </a:rPr>
              <a:t>Demo prototype Day 6 · Chat tra cứu thuốc + Safety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77240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 dirty="0" err="1">
                <a:solidFill>
                  <a:srgbClr val="667085"/>
                </a:solidFill>
                <a:latin typeface="Arial"/>
              </a:rPr>
              <a:t>Mục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tiêu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: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giúp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người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dùng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kiểm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tra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nhanh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thông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tin an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toàn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thuốc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có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nguồn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có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cảnh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báo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và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biết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khi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nào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cần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hỏi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dược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667085"/>
                </a:solidFill>
                <a:latin typeface="Arial"/>
              </a:rPr>
              <a:t>sĩ</a:t>
            </a:r>
            <a:r>
              <a:rPr sz="1700" b="0" dirty="0">
                <a:solidFill>
                  <a:srgbClr val="667085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74420"/>
            <a:ext cx="2743200" cy="4389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Lát cắt demo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Tình trạng + tuổi + giới tính</a:t>
            </a:r>
          </a:p>
          <a:p>
            <a:r>
              <a:rPr sz="1100">
                <a:solidFill>
                  <a:srgbClr val="172033"/>
                </a:solidFill>
                <a:latin typeface="Arial"/>
              </a:rPr>
              <a:t>+ tên thuốc/hoạt chất</a:t>
            </a:r>
          </a:p>
          <a:p>
            <a:endParaRPr sz="1100">
              <a:solidFill>
                <a:srgbClr val="172033"/>
              </a:solidFill>
              <a:latin typeface="Arial"/>
            </a:endParaRPr>
          </a:p>
          <a:p>
            <a:r>
              <a:rPr sz="1100">
                <a:solidFill>
                  <a:srgbClr val="172033"/>
                </a:solidFill>
                <a:latin typeface="Arial"/>
              </a:rPr>
              <a:t>→ DB local / fuzzy / API fallback</a:t>
            </a:r>
          </a:p>
          <a:p>
            <a:endParaRPr sz="1100">
              <a:solidFill>
                <a:srgbClr val="172033"/>
              </a:solidFill>
              <a:latin typeface="Arial"/>
            </a:endParaRPr>
          </a:p>
          <a:p>
            <a:r>
              <a:rPr sz="1100">
                <a:solidFill>
                  <a:srgbClr val="172033"/>
                </a:solidFill>
                <a:latin typeface="Arial"/>
              </a:rPr>
              <a:t>→ Safety Card</a:t>
            </a:r>
          </a:p>
          <a:p>
            <a:r>
              <a:rPr sz="1100">
                <a:solidFill>
                  <a:srgbClr val="172033"/>
                </a:solidFill>
                <a:latin typeface="Arial"/>
              </a:rPr>
              <a:t>+ CTA hỏi dược sĩ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052D9"/>
                </a:solidFill>
                <a:latin typeface="Arial"/>
              </a:rPr>
              <a:t>Nhóm C1 — E403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5669280" cy="2369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dirty="0">
                <a:solidFill>
                  <a:srgbClr val="172033"/>
                </a:solidFill>
                <a:latin typeface="Arial"/>
              </a:rPr>
              <a:t>Thạch · Đoàn · Tuấn Anh · Phương Thảo · Nhi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1. Vấn đề cần giải quyết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User cần kiểm tra an toàn thuốc nhanh, nhưng không nên để AI tự quyết định y tế.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004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Pain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của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user</a:t>
            </a:r>
          </a:p>
          <a:p>
            <a:pPr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Đang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cầm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hoặc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chuẩn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bị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mua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chắc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phù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hợp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của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>
                <a:solidFill>
                  <a:srgbClr val="172033"/>
                </a:solidFill>
                <a:latin typeface="Arial"/>
              </a:rPr>
              <a:t>Chat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thể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phải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chờ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>
                <a:solidFill>
                  <a:srgbClr val="172033"/>
                </a:solidFill>
                <a:latin typeface="Arial"/>
              </a:rPr>
              <a:t>Google/AI generic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dễ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rời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rạc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hoặc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thiếu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004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 err="1">
                <a:solidFill>
                  <a:srgbClr val="0052D9"/>
                </a:solidFill>
                <a:latin typeface="Arial"/>
              </a:rPr>
              <a:t>Rủi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ro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nếu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làm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sai</a:t>
            </a:r>
            <a:endParaRPr sz="1500" b="1" dirty="0">
              <a:solidFill>
                <a:srgbClr val="0052D9"/>
              </a:solidFill>
              <a:latin typeface="Arial"/>
            </a:endParaRPr>
          </a:p>
          <a:p>
            <a:pPr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Dùng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nhầm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hoặc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bỏ</a:t>
            </a:r>
            <a:r>
              <a:rPr sz="1100" dirty="0">
                <a:solidFill>
                  <a:srgbClr val="172033"/>
                </a:solidFill>
                <a:latin typeface="Arial"/>
              </a:rPr>
              <a:t> qua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chống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chỉ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định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>
                <a:solidFill>
                  <a:srgbClr val="172033"/>
                </a:solidFill>
                <a:latin typeface="Arial"/>
              </a:rPr>
              <a:t>Tin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vào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câu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trả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lời</a:t>
            </a:r>
            <a:r>
              <a:rPr sz="1100" dirty="0">
                <a:solidFill>
                  <a:srgbClr val="172033"/>
                </a:solidFill>
                <a:latin typeface="Arial"/>
              </a:rPr>
              <a:t> AI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quá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chắc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biết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nào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phải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hỏi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người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thật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r>
              <a:rPr sz="1100" dirty="0" err="1">
                <a:solidFill>
                  <a:srgbClr val="172033"/>
                </a:solidFill>
                <a:latin typeface="Arial"/>
              </a:rPr>
              <a:t>Khó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phục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hồi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nếu</a:t>
            </a:r>
            <a:r>
              <a:rPr sz="1100" dirty="0">
                <a:solidFill>
                  <a:srgbClr val="172033"/>
                </a:solidFill>
                <a:latin typeface="Arial"/>
              </a:rPr>
              <a:t> user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đã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uống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32004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Cơ hội sản phẩm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Tạo lớp Safety Card trước khi handoff dược sĩ</a:t>
            </a:r>
          </a:p>
          <a:p>
            <a:r>
              <a:rPr sz="1100">
                <a:solidFill>
                  <a:srgbClr val="172033"/>
                </a:solidFill>
                <a:latin typeface="Arial"/>
              </a:rPr>
              <a:t>Có nguồn + disclaimer</a:t>
            </a:r>
          </a:p>
          <a:p>
            <a:r>
              <a:rPr sz="1100">
                <a:solidFill>
                  <a:srgbClr val="172033"/>
                </a:solidFill>
                <a:latin typeface="Arial"/>
              </a:rPr>
              <a:t>Có mức cảnh báo Xanh / Vàng / Đỏ</a:t>
            </a:r>
          </a:p>
          <a:p>
            <a:r>
              <a:rPr sz="1100">
                <a:solidFill>
                  <a:srgbClr val="172033"/>
                </a:solidFill>
                <a:latin typeface="Arial"/>
              </a:rPr>
              <a:t>Biết dừng khi không chắc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2. Bằng chứng &amp;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Từ app thật, review công khai và workshop nhóm Day 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23444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Evidence 01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Chat dược sĩ có giá trị, nhưng khi chờ lâu user cần bước tự kiểm tra nhanh.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123444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Evidence 02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App có disclaimer: thông tin chỉ tham khảo, không thay thế tư vấn y tế.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71600"/>
            <a:ext cx="3474720" cy="123444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Evidence 03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Tool/API lỗi ở bước cuối sẽ làm user mất trust nếu bot vẫn trả lời như thật.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063240"/>
            <a:ext cx="9738360" cy="182880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Insight chính</a:t>
            </a:r>
          </a:p>
          <a:p>
            <a:pPr algn="ctr">
              <a:spcBef>
                <a:spcPts val="1000"/>
              </a:spcBef>
            </a:pPr>
            <a:r>
              <a:rPr sz="1900" b="1">
                <a:solidFill>
                  <a:srgbClr val="FFFFFF"/>
                </a:solidFill>
                <a:latin typeface="Arial"/>
              </a:rPr>
              <a:t>User không chỉ cần biết “thuốc này là gì”, mà cần biết thuốc/hoạt chất này có điểm gì cần lưu ý với tình trạng của mình không.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3. Lát cắt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Một user · một task · một AI decision · một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Một user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Người dùng Long Châu đang cầm hoặc chuẩn bị mua một thuốc/hoạt chất.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46304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Một task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Kiểm tra thuốc đó có điểm gì cần lưu ý với tình trạng, tuổi, giới tính.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Một AI decision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Chọn thuốc đúng + đối chiếu rule an toàn + gắn mức cảnh báo.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46304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0052D9"/>
                </a:solidFill>
                <a:latin typeface="Arial"/>
              </a:rPr>
              <a:t>Một output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Safety Card có nguồn, disclaimer, mức cảnh báo và CTA hỏi dược sĩ.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257800"/>
            <a:ext cx="2103120" cy="3200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Không build AI bác sĩ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1940" y="5257800"/>
            <a:ext cx="15544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Không kê đơn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7980" y="5257800"/>
            <a:ext cx="2011680" cy="32004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Không thay dược sĩ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41180" y="5234940"/>
            <a:ext cx="20116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1000" b="1" dirty="0">
                <a:solidFill>
                  <a:srgbClr val="FFFFFF"/>
                </a:solidFill>
                <a:latin typeface="Arial"/>
              </a:rPr>
              <a:t> safety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4. Flow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Từ input của user đến Safety Card hoặc handoff.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Oval 4"/>
          <p:cNvSpPr/>
          <p:nvPr/>
        </p:nvSpPr>
        <p:spPr>
          <a:xfrm>
            <a:off x="1069848" y="1828800"/>
            <a:ext cx="658368" cy="658368"/>
          </a:xfrm>
          <a:prstGeom prst="ellipse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User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nhập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ctr"/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194560" y="2167128"/>
            <a:ext cx="301752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90088" y="1828800"/>
            <a:ext cx="658368" cy="658368"/>
          </a:xfrm>
          <a:prstGeom prst="ellipse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 +</a:t>
            </a:r>
          </a:p>
          <a:p>
            <a:pPr algn="ctr"/>
            <a:r>
              <a:rPr sz="1100" dirty="0" err="1">
                <a:solidFill>
                  <a:srgbClr val="172033"/>
                </a:solidFill>
                <a:latin typeface="Arial"/>
              </a:rPr>
              <a:t>giới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tính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114800" y="2167128"/>
            <a:ext cx="301752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10328" y="1828800"/>
            <a:ext cx="658368" cy="658368"/>
          </a:xfrm>
          <a:prstGeom prst="ellipse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 err="1">
                <a:solidFill>
                  <a:srgbClr val="172033"/>
                </a:solidFill>
                <a:latin typeface="Arial"/>
              </a:rPr>
              <a:t>Tên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 /</a:t>
            </a:r>
          </a:p>
          <a:p>
            <a:pPr algn="ctr"/>
            <a:r>
              <a:rPr sz="1100" dirty="0" err="1">
                <a:solidFill>
                  <a:srgbClr val="172033"/>
                </a:solidFill>
                <a:latin typeface="Arial"/>
              </a:rPr>
              <a:t>hoạt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chất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167128"/>
            <a:ext cx="301752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30568" y="1828800"/>
            <a:ext cx="658368" cy="65836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Check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red flag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80" y="2167128"/>
            <a:ext cx="301752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750808" y="1828800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DB local /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fuzzy /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0" y="2167128"/>
            <a:ext cx="301752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671048" y="1828800"/>
            <a:ext cx="658368" cy="6583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697480"/>
            <a:ext cx="1783080" cy="96012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Safety Card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+ CTA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572000"/>
            <a:ext cx="4937760" cy="9144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E53E3E"/>
                </a:solidFill>
                <a:latin typeface="Arial"/>
              </a:rPr>
              <a:t>Nếu có dấu hiệu khẩn cấp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Dừng flow tra cứu thường → hướng gọi 115 / đến cơ sở y tế / hỏi dược sĩ.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572000"/>
            <a:ext cx="4937760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F59E0B"/>
                </a:solidFill>
                <a:latin typeface="Arial"/>
              </a:rPr>
              <a:t>Nếu không chắc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33"/>
                </a:solidFill>
                <a:latin typeface="Arial"/>
              </a:rPr>
              <a:t>Không đoán bừa → hỏi lại, show gợi ý fuzzy hoặc chuyển dược sĩ.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5. Kiến trúc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Code chạy trong `codebase/` bằng Node.js + Express + DB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Frontend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`index.html`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`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css</a:t>
            </a:r>
            <a:r>
              <a:rPr sz="1100" dirty="0">
                <a:solidFill>
                  <a:srgbClr val="172033"/>
                </a:solidFill>
                <a:latin typeface="Arial"/>
              </a:rPr>
              <a:t>/styles.css`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`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js</a:t>
            </a:r>
            <a:r>
              <a:rPr sz="1100" dirty="0">
                <a:solidFill>
                  <a:srgbClr val="172033"/>
                </a:solidFill>
                <a:latin typeface="Arial"/>
              </a:rPr>
              <a:t>/app.js`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32588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Backend API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`server/index.js`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`server/routes/drugs.js`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Express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2588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Data / AI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`data/drugs-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demo.json</a:t>
            </a:r>
            <a:r>
              <a:rPr sz="1100" dirty="0">
                <a:solidFill>
                  <a:srgbClr val="172033"/>
                </a:solidFill>
                <a:latin typeface="Arial"/>
              </a:rPr>
              <a:t>`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Fuse.js fuzzy</a:t>
            </a:r>
          </a:p>
          <a:p>
            <a:pPr algn="ctr"/>
            <a:r>
              <a:rPr sz="1100" dirty="0">
                <a:solidFill>
                  <a:srgbClr val="172033"/>
                </a:solidFill>
                <a:latin typeface="Arial"/>
              </a:rPr>
              <a:t>OpenAI / DeepSeek / Gemini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1965960"/>
            <a:ext cx="1005840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1965960"/>
            <a:ext cx="1005840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749039"/>
            <a:ext cx="9966960" cy="1280160"/>
          </a:xfrm>
          <a:prstGeom prst="roundRect">
            <a:avLst/>
          </a:prstGeom>
          <a:solidFill>
            <a:srgbClr val="0052D9"/>
          </a:solidFill>
          <a:ln w="12700">
            <a:solidFill>
              <a:srgbClr val="005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Logic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chính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FFFFFF"/>
                </a:solidFill>
                <a:latin typeface="Arial"/>
              </a:rPr>
              <a:t>DB local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ưu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tiên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trước</a:t>
            </a:r>
            <a:r>
              <a:rPr sz="110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gõ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sai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thì</a:t>
            </a:r>
            <a:r>
              <a:rPr sz="1100" dirty="0">
                <a:solidFill>
                  <a:srgbClr val="FFFFFF"/>
                </a:solidFill>
                <a:latin typeface="Arial"/>
              </a:rPr>
              <a:t> fuzzy suggestion → DB miss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mới</a:t>
            </a:r>
            <a:r>
              <a:rPr sz="1100" dirty="0">
                <a:solidFill>
                  <a:srgbClr val="FFFFFF"/>
                </a:solidFill>
                <a:latin typeface="Arial"/>
              </a:rPr>
              <a:t> fallback AI →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nguồn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thì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bịa</a:t>
            </a:r>
            <a:r>
              <a:rPr sz="1100" dirty="0">
                <a:solidFill>
                  <a:srgbClr val="FFFFFF"/>
                </a:solidFill>
                <a:latin typeface="Arial"/>
              </a:rPr>
              <a:t> Safety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6. Output: Safety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Thông tin có cấu trúc, không phải câu trả lời y tế tuyệt đối.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4754880" cy="4892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Safety Card — Paracetamol</a:t>
            </a: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Hoạt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chất</a:t>
            </a:r>
            <a:r>
              <a:rPr sz="1100" dirty="0">
                <a:solidFill>
                  <a:srgbClr val="172033"/>
                </a:solidFill>
                <a:latin typeface="Arial"/>
              </a:rPr>
              <a:t>: Paracetamol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sốt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nhẹ</a:t>
            </a:r>
            <a:r>
              <a:rPr sz="1100" dirty="0">
                <a:solidFill>
                  <a:srgbClr val="172033"/>
                </a:solidFill>
                <a:latin typeface="Arial"/>
              </a:rPr>
              <a:t>, 25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nam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Mức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cảnh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báo</a:t>
            </a:r>
            <a:r>
              <a:rPr sz="1100" dirty="0">
                <a:solidFill>
                  <a:srgbClr val="172033"/>
                </a:solidFill>
                <a:latin typeface="Arial"/>
              </a:rPr>
              <a:t>: Xanh /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Vàng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nhẹ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Lý do: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phù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hợp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chỉ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định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hạ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sốt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cần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chú</a:t>
            </a:r>
            <a:r>
              <a:rPr sz="1100" dirty="0">
                <a:solidFill>
                  <a:srgbClr val="172033"/>
                </a:solidFill>
                <a:latin typeface="Arial"/>
              </a:rPr>
              <a:t> ý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liều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  <a:p>
            <a:pPr algn="just"/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Lưu ý: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tránh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quá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liều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thận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trọng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nếu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bệnh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gan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r>
              <a:rPr sz="1100" dirty="0">
                <a:solidFill>
                  <a:srgbClr val="172033"/>
                </a:solidFill>
                <a:latin typeface="Arial"/>
              </a:rPr>
              <a:t>: DB demo /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tham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khảo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Disclaimer: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thay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thế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tư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vấn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/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bác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512064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59669"/>
                </a:solidFill>
                <a:latin typeface="Arial"/>
              </a:rPr>
              <a:t>Xanh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Thông tin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phù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hợp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trong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DB demo,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vẫn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disclaimer.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423160"/>
            <a:ext cx="512064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 err="1">
                <a:solidFill>
                  <a:srgbClr val="F59E0B"/>
                </a:solidFill>
                <a:latin typeface="Arial"/>
              </a:rPr>
              <a:t>Vàng</a:t>
            </a:r>
            <a:endParaRPr sz="1500" b="1" dirty="0">
              <a:solidFill>
                <a:srgbClr val="F59E0B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Thận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trọng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nên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hỏi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trước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dùng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12064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 err="1">
                <a:solidFill>
                  <a:srgbClr val="E53E3E"/>
                </a:solidFill>
                <a:latin typeface="Arial"/>
              </a:rPr>
              <a:t>Đỏ</a:t>
            </a:r>
            <a:r>
              <a:rPr sz="1500" b="1" dirty="0">
                <a:solidFill>
                  <a:srgbClr val="E53E3E"/>
                </a:solidFill>
                <a:latin typeface="Arial"/>
              </a:rPr>
              <a:t> /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Khẩn</a:t>
            </a:r>
            <a:r>
              <a:rPr sz="1500" b="1" dirty="0">
                <a:solidFill>
                  <a:srgbClr val="E53E3E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cấp</a:t>
            </a:r>
            <a:endParaRPr sz="1500" b="1" dirty="0">
              <a:solidFill>
                <a:srgbClr val="E53E3E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xử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lý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như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cứu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thường</a:t>
            </a:r>
            <a:r>
              <a:rPr sz="1100" dirty="0">
                <a:solidFill>
                  <a:srgbClr val="172033"/>
                </a:solidFill>
                <a:latin typeface="Arial"/>
              </a:rPr>
              <a:t>;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chuyển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chuyên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môn</a:t>
            </a:r>
            <a:r>
              <a:rPr sz="1100" dirty="0">
                <a:solidFill>
                  <a:srgbClr val="172033"/>
                </a:solidFill>
                <a:latin typeface="Arial"/>
              </a:rPr>
              <a:t>/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cấp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cứu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5257800"/>
            <a:ext cx="3200400" cy="32004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CTA: Hỏi dược sĩ Long Châu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7. Demo case 1 — Happy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Bot tìm thấy thuốc trong DB và tạo Safety Card.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937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Input demo</a:t>
            </a: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sốt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nhẹ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: 25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Giới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tính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nam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: Paracetamol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937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 err="1">
                <a:solidFill>
                  <a:srgbClr val="0052D9"/>
                </a:solidFill>
                <a:latin typeface="Arial"/>
              </a:rPr>
              <a:t>Kỳ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vọng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khi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demo</a:t>
            </a: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Status: ok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r>
              <a:rPr sz="1100" dirty="0">
                <a:solidFill>
                  <a:srgbClr val="172033"/>
                </a:solidFill>
                <a:latin typeface="Arial"/>
              </a:rPr>
              <a:t>: database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hoạt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chất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chỉ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định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chống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chỉ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định</a:t>
            </a:r>
            <a:r>
              <a:rPr sz="1100" dirty="0">
                <a:solidFill>
                  <a:srgbClr val="172033"/>
                </a:solidFill>
                <a:latin typeface="Arial"/>
              </a:rPr>
              <a:t>, warnings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disclaimer + CTA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hỏi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80160" y="4892040"/>
            <a:ext cx="9601200" cy="777240"/>
          </a:xfrm>
          <a:prstGeom prst="roundRect">
            <a:avLst/>
          </a:prstGeom>
          <a:solidFill>
            <a:srgbClr val="0052D9"/>
          </a:solidFill>
          <a:ln w="12700">
            <a:solidFill>
              <a:srgbClr val="005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Arial"/>
              </a:rPr>
              <a:t>Lời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thoại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gợi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ý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FFFFFF"/>
                </a:solidFill>
                <a:latin typeface="Arial"/>
              </a:rPr>
              <a:t>“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Đây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là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case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thuận</a:t>
            </a:r>
            <a:r>
              <a:rPr sz="1100" dirty="0">
                <a:solidFill>
                  <a:srgbClr val="FFFFFF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dữ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liệu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rõ</a:t>
            </a:r>
            <a:r>
              <a:rPr sz="1100" dirty="0">
                <a:solidFill>
                  <a:srgbClr val="FFFFFF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thuốc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trong</a:t>
            </a:r>
            <a:r>
              <a:rPr sz="1100" dirty="0">
                <a:solidFill>
                  <a:srgbClr val="FFFFFF"/>
                </a:solidFill>
                <a:latin typeface="Arial"/>
              </a:rPr>
              <a:t> DB, bot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cần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gọi</a:t>
            </a:r>
            <a:r>
              <a:rPr sz="1100" dirty="0">
                <a:solidFill>
                  <a:srgbClr val="FFFFFF"/>
                </a:solidFill>
                <a:latin typeface="Arial"/>
              </a:rPr>
              <a:t> AI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ngoài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trả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quả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cấu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trúc</a:t>
            </a:r>
            <a:r>
              <a:rPr sz="1100" dirty="0">
                <a:solidFill>
                  <a:srgbClr val="FFFFFF"/>
                </a:solidFill>
                <a:latin typeface="Arial"/>
              </a:rPr>
              <a:t>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8. Demo case 2 — Low-confidence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Khi tên thuốc mơ hồ hoặc gõ sai, bot không đoán bừa.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937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Input demo</a:t>
            </a: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sốt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nhẹ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: 25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Giới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tính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nam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Panadl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937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 err="1">
                <a:solidFill>
                  <a:srgbClr val="0052D9"/>
                </a:solidFill>
                <a:latin typeface="Arial"/>
              </a:rPr>
              <a:t>Kỳ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vọng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khi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demo</a:t>
            </a: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Bot show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gợi</a:t>
            </a:r>
            <a:r>
              <a:rPr sz="1100" dirty="0">
                <a:solidFill>
                  <a:srgbClr val="172033"/>
                </a:solidFill>
                <a:latin typeface="Arial"/>
              </a:rPr>
              <a:t> ý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gần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đúng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Panadol / Paracetamol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Paracetamol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Efferalgan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User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phải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xác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nhận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trước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tạo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892040"/>
            <a:ext cx="960120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 err="1">
                <a:solidFill>
                  <a:srgbClr val="F59E0B"/>
                </a:solidFill>
                <a:latin typeface="Arial"/>
              </a:rPr>
              <a:t>Điểm</a:t>
            </a:r>
            <a:r>
              <a:rPr sz="1500" b="1" dirty="0">
                <a:solidFill>
                  <a:srgbClr val="F59E0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59E0B"/>
                </a:solidFill>
                <a:latin typeface="Arial"/>
              </a:rPr>
              <a:t>cần</a:t>
            </a:r>
            <a:r>
              <a:rPr sz="1500" b="1" dirty="0">
                <a:solidFill>
                  <a:srgbClr val="F59E0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59E0B"/>
                </a:solidFill>
                <a:latin typeface="Arial"/>
              </a:rPr>
              <a:t>nhấn</a:t>
            </a:r>
            <a:r>
              <a:rPr sz="1500" b="1" dirty="0">
                <a:solidFill>
                  <a:srgbClr val="F59E0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59E0B"/>
                </a:solidFill>
                <a:latin typeface="Arial"/>
              </a:rPr>
              <a:t>mạnh</a:t>
            </a:r>
            <a:endParaRPr sz="1500" b="1" dirty="0">
              <a:solidFill>
                <a:srgbClr val="F59E0B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“Trong AI product, low-confidence path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quan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trọng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vì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giúp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giảm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lỗi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nhận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nhầm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9. Demo case 3 — Failure / urgent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Khi có dấu hiệu nguy hiểm, bot phải biết dừng.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9377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Input demo</a:t>
            </a: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thở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sưng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mặt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sau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uống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: 30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Giới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tính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nữ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: Ibuprofen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9377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 err="1">
                <a:solidFill>
                  <a:srgbClr val="0052D9"/>
                </a:solidFill>
                <a:latin typeface="Arial"/>
              </a:rPr>
              <a:t>Kỳ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vọng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khi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demo</a:t>
            </a: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Status: urgent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tạo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thường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Hướng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gọi</a:t>
            </a:r>
            <a:r>
              <a:rPr sz="1100" dirty="0">
                <a:solidFill>
                  <a:srgbClr val="172033"/>
                </a:solidFill>
                <a:latin typeface="Arial"/>
              </a:rPr>
              <a:t> 115 /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đến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cơ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sở</a:t>
            </a:r>
            <a:r>
              <a:rPr sz="1100" dirty="0">
                <a:solidFill>
                  <a:srgbClr val="172033"/>
                </a:solidFill>
                <a:latin typeface="Arial"/>
              </a:rPr>
              <a:t> y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tế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CTA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hỏi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nếu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cần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80160" y="4983480"/>
            <a:ext cx="960120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E53E3E"/>
                </a:solidFill>
                <a:latin typeface="Arial"/>
              </a:rPr>
              <a:t>Thông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điệp</a:t>
            </a:r>
            <a:endParaRPr sz="1500" b="1" dirty="0">
              <a:solidFill>
                <a:srgbClr val="E53E3E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“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y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tế</a:t>
            </a:r>
            <a:r>
              <a:rPr sz="1100" dirty="0">
                <a:solidFill>
                  <a:srgbClr val="172033"/>
                </a:solidFill>
                <a:latin typeface="Arial"/>
              </a:rPr>
              <a:t>, failure path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quan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trọng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hơn</a:t>
            </a:r>
            <a:r>
              <a:rPr sz="1100" dirty="0">
                <a:solidFill>
                  <a:srgbClr val="172033"/>
                </a:solidFill>
                <a:latin typeface="Arial"/>
              </a:rPr>
              <a:t> happy path: bot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nên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cố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trả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lời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cần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người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thật</a:t>
            </a:r>
            <a:r>
              <a:rPr sz="1100" dirty="0">
                <a:solidFill>
                  <a:srgbClr val="172033"/>
                </a:solidFill>
                <a:latin typeface="Arial"/>
              </a:rPr>
              <a:t>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10. Demo case 4 — Correction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Khi user sửa thông tin, kết quả cũ phải bị thay thế.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Input ban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đầu</a:t>
            </a:r>
            <a:endParaRPr sz="1500" b="1" dirty="0">
              <a:solidFill>
                <a:srgbClr val="0052D9"/>
              </a:solidFill>
              <a:latin typeface="Arial"/>
            </a:endParaRP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Tình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trạng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đau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đầu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Tuổi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: 25</a:t>
            </a: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Giới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tính</a:t>
            </a:r>
            <a:r>
              <a:rPr sz="1100" dirty="0">
                <a:solidFill>
                  <a:srgbClr val="172033"/>
                </a:solidFill>
                <a:latin typeface="Arial"/>
              </a:rPr>
              <a:t>: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nữ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Thuốc</a:t>
            </a:r>
            <a:r>
              <a:rPr sz="1100" dirty="0">
                <a:solidFill>
                  <a:srgbClr val="172033"/>
                </a:solidFill>
                <a:latin typeface="Arial"/>
              </a:rPr>
              <a:t>: Ibuprofen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383280" cy="283464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User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sửa</a:t>
            </a:r>
            <a:endParaRPr sz="1500" b="1" dirty="0">
              <a:solidFill>
                <a:srgbClr val="0052D9"/>
              </a:solidFill>
              <a:latin typeface="Arial"/>
            </a:endParaRP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“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phải</a:t>
            </a:r>
            <a:r>
              <a:rPr sz="1100" dirty="0">
                <a:solidFill>
                  <a:srgbClr val="172033"/>
                </a:solidFill>
                <a:latin typeface="Arial"/>
              </a:rPr>
              <a:t> Ibuprofen,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mình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muốn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tra</a:t>
            </a:r>
            <a:r>
              <a:rPr sz="1100" dirty="0">
                <a:solidFill>
                  <a:srgbClr val="172033"/>
                </a:solidFill>
                <a:latin typeface="Arial"/>
              </a:rPr>
              <a:t> Paracetamol.”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3832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0052D9"/>
                </a:solidFill>
                <a:latin typeface="Arial"/>
              </a:rPr>
              <a:t>Bot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xử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lý</a:t>
            </a:r>
            <a:endParaRPr sz="1500" b="1" dirty="0">
              <a:solidFill>
                <a:srgbClr val="0052D9"/>
              </a:solidFill>
              <a:latin typeface="Arial"/>
            </a:endParaRPr>
          </a:p>
          <a:p>
            <a:pPr algn="just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Bỏ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cũ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 err="1">
                <a:solidFill>
                  <a:srgbClr val="172033"/>
                </a:solidFill>
                <a:latin typeface="Arial"/>
              </a:rPr>
              <a:t>Tạo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mới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Log correction ở session/demo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743200"/>
            <a:ext cx="365760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18120" y="2743200"/>
            <a:ext cx="320040" cy="0"/>
          </a:xfrm>
          <a:prstGeom prst="line">
            <a:avLst/>
          </a:prstGeom>
          <a:ln w="25400">
            <a:solidFill>
              <a:srgbClr val="005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25880" y="4937760"/>
            <a:ext cx="9509760" cy="685800"/>
          </a:xfrm>
          <a:prstGeom prst="roundRect">
            <a:avLst/>
          </a:prstGeom>
          <a:solidFill>
            <a:srgbClr val="0052D9"/>
          </a:solidFill>
          <a:ln w="12700">
            <a:solidFill>
              <a:srgbClr val="005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Ý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nghĩa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product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FFFFFF"/>
                </a:solidFill>
                <a:latin typeface="Arial"/>
              </a:rPr>
              <a:t>Correction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chỉ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là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sửa</a:t>
            </a:r>
            <a:r>
              <a:rPr sz="1100" dirty="0">
                <a:solidFill>
                  <a:srgbClr val="FFFFFF"/>
                </a:solidFill>
                <a:latin typeface="Arial"/>
              </a:rPr>
              <a:t> UI,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mà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là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tín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hiệu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để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cải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thiện</a:t>
            </a:r>
            <a:r>
              <a:rPr sz="1100" dirty="0">
                <a:solidFill>
                  <a:srgbClr val="FFFFFF"/>
                </a:solidFill>
                <a:latin typeface="Arial"/>
              </a:rPr>
              <a:t> alias, rules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1100" dirty="0">
                <a:solidFill>
                  <a:srgbClr val="FFFFFF"/>
                </a:solidFill>
                <a:latin typeface="Arial"/>
              </a:rPr>
              <a:t> test case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sau</a:t>
            </a:r>
            <a:r>
              <a:rPr sz="110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Arial"/>
              </a:rPr>
              <a:t>này</a:t>
            </a:r>
            <a:r>
              <a:rPr sz="110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11. Guardrails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Thiết kế để user biết giới hạn của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983480" cy="3931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>
                <a:solidFill>
                  <a:srgbClr val="E53E3E"/>
                </a:solidFill>
                <a:latin typeface="Arial"/>
              </a:rPr>
              <a:t>AI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không</a:t>
            </a:r>
            <a:r>
              <a:rPr sz="1500" b="1" dirty="0">
                <a:solidFill>
                  <a:srgbClr val="E53E3E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được</a:t>
            </a:r>
            <a:r>
              <a:rPr sz="1500" b="1" dirty="0">
                <a:solidFill>
                  <a:srgbClr val="E53E3E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E53E3E"/>
                </a:solidFill>
                <a:latin typeface="Arial"/>
              </a:rPr>
              <a:t>làm</a:t>
            </a:r>
            <a:endParaRPr sz="1500" b="1" dirty="0">
              <a:solidFill>
                <a:srgbClr val="E53E3E"/>
              </a:solidFill>
              <a:latin typeface="Arial"/>
            </a:endParaRP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chẩn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đoán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bệnh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kê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đơn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hoặc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đổi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liều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nói</a:t>
            </a:r>
            <a:r>
              <a:rPr sz="1100" dirty="0">
                <a:solidFill>
                  <a:srgbClr val="172033"/>
                </a:solidFill>
                <a:latin typeface="Arial"/>
              </a:rPr>
              <a:t> “an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toàn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tuyệt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đối</a:t>
            </a:r>
            <a:r>
              <a:rPr sz="1100" dirty="0">
                <a:solidFill>
                  <a:srgbClr val="172033"/>
                </a:solidFill>
                <a:latin typeface="Arial"/>
              </a:rPr>
              <a:t>”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bịa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thiếu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983480" cy="3931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just"/>
            <a:r>
              <a:rPr sz="1500" b="1" dirty="0" err="1">
                <a:solidFill>
                  <a:srgbClr val="059669"/>
                </a:solidFill>
                <a:latin typeface="Arial"/>
              </a:rPr>
              <a:t>Sản</a:t>
            </a:r>
            <a:r>
              <a:rPr sz="15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59669"/>
                </a:solidFill>
                <a:latin typeface="Arial"/>
              </a:rPr>
              <a:t>phẩm</a:t>
            </a:r>
            <a:r>
              <a:rPr sz="15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59669"/>
                </a:solidFill>
                <a:latin typeface="Arial"/>
              </a:rPr>
              <a:t>phải</a:t>
            </a:r>
            <a:r>
              <a:rPr sz="1500" b="1" dirty="0">
                <a:solidFill>
                  <a:srgbClr val="05966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59669"/>
                </a:solidFill>
                <a:latin typeface="Arial"/>
              </a:rPr>
              <a:t>có</a:t>
            </a:r>
            <a:endParaRPr sz="1500" b="1" dirty="0">
              <a:solidFill>
                <a:srgbClr val="059669"/>
              </a:solidFill>
              <a:latin typeface="Arial"/>
            </a:endParaRPr>
          </a:p>
          <a:p>
            <a:pPr algn="just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disclaimer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trong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Safety Card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nguồn</a:t>
            </a:r>
            <a:r>
              <a:rPr sz="1100" dirty="0">
                <a:solidFill>
                  <a:srgbClr val="172033"/>
                </a:solidFill>
                <a:latin typeface="Arial"/>
              </a:rPr>
              <a:t> / data source</a:t>
            </a: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Xanh –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Vàng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–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Đỏ</a:t>
            </a:r>
            <a:r>
              <a:rPr sz="1100" dirty="0">
                <a:solidFill>
                  <a:srgbClr val="172033"/>
                </a:solidFill>
                <a:latin typeface="Arial"/>
              </a:rPr>
              <a:t> /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Không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chắc</a:t>
            </a:r>
            <a:endParaRPr sz="1100" dirty="0">
              <a:solidFill>
                <a:srgbClr val="172033"/>
              </a:solidFill>
              <a:latin typeface="Arial"/>
            </a:endParaRPr>
          </a:p>
          <a:p>
            <a:pPr algn="just"/>
            <a:r>
              <a:rPr sz="1100" dirty="0">
                <a:solidFill>
                  <a:srgbClr val="172033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Có</a:t>
            </a:r>
            <a:r>
              <a:rPr sz="1100" dirty="0">
                <a:solidFill>
                  <a:srgbClr val="172033"/>
                </a:solidFill>
                <a:latin typeface="Arial"/>
              </a:rPr>
              <a:t> CTA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hỏi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hoặc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hướng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cấp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cứu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12. Phân công nhóm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Phân công theo đóng góp Day 6 và phần cần giải thích khi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97280"/>
            <a:ext cx="1069848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Phùng Văn Thạch — Prototype owner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chính</a:t>
            </a:r>
            <a:endParaRPr sz="1500" b="1" dirty="0">
              <a:solidFill>
                <a:srgbClr val="0052D9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Flow chatbot, logic, API client, OCR/image input, deploy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entrypoint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9848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Lương Quốc Đoàn — UX/UI owner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Giao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diện</a:t>
            </a:r>
            <a:r>
              <a:rPr sz="1100" dirty="0">
                <a:solidFill>
                  <a:srgbClr val="172033"/>
                </a:solidFill>
                <a:latin typeface="Arial"/>
              </a:rPr>
              <a:t>, logo/assets, visual polish, Long Châu-style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069848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Trịnh Vũ Anh Tuấn — Rule/DB owner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drugs-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demo.json</a:t>
            </a:r>
            <a:r>
              <a:rPr sz="1100" dirty="0">
                <a:solidFill>
                  <a:srgbClr val="172033"/>
                </a:solidFill>
                <a:latin typeface="Arial"/>
              </a:rPr>
              <a:t>, aliases, warnings, condition/gender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40"/>
            <a:ext cx="1069848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Hoàng Phương Thảo — Workflow/docs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Workflow,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tài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liệu</a:t>
            </a:r>
            <a:r>
              <a:rPr sz="1100" dirty="0">
                <a:solidFill>
                  <a:srgbClr val="172033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kiểm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luồng</a:t>
            </a:r>
            <a:r>
              <a:rPr sz="1100" dirty="0">
                <a:solidFill>
                  <a:srgbClr val="172033"/>
                </a:solidFill>
                <a:latin typeface="Arial"/>
              </a:rPr>
              <a:t>, submission hygiene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937760"/>
            <a:ext cx="1069848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Thái Thị Yến Nhi — Repo/submission owner</a:t>
            </a:r>
          </a:p>
          <a:p>
            <a:pPr algn="ctr">
              <a:spcBef>
                <a:spcPts val="400"/>
              </a:spcBef>
            </a:pPr>
            <a:r>
              <a:rPr sz="1100" dirty="0" err="1">
                <a:solidFill>
                  <a:srgbClr val="172033"/>
                </a:solidFill>
                <a:latin typeface="Arial"/>
              </a:rPr>
              <a:t>Gom</a:t>
            </a:r>
            <a:r>
              <a:rPr sz="1100" dirty="0">
                <a:solidFill>
                  <a:srgbClr val="172033"/>
                </a:solidFill>
                <a:latin typeface="Arial"/>
              </a:rPr>
              <a:t> repo, README, SPEC, failure/correction path,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chuẩn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hóa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nộp</a:t>
            </a:r>
            <a:endParaRPr sz="1100" dirty="0">
              <a:solidFill>
                <a:srgbClr val="17203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0052D9"/>
                </a:solidFill>
                <a:latin typeface="Arial"/>
              </a:rPr>
              <a:t>13. Kịch bản chốt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"/>
              </a:rPr>
              <a:t>Thông điệp cuối khi thuyết trình.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20040"/>
            <a:ext cx="2240280" cy="41148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Day 6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332720" cy="2286000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rial"/>
              </a:rPr>
              <a:t>Long Châu Safety Bot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cố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trở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thành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AI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bác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sĩ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Nhóm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chỉ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build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một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lát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cắt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hẹp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khi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user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một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tình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trạng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sức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khỏe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tuổi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giới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tính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một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thuốc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/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hoạt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chất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cần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tra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, bot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tạo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Safety Card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nguồn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cảnh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báo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an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toàn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CTA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hỏi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dược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sĩ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Giá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trị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chính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là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trả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lời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giới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hạn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căn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cứ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biết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dừng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khi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chắc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251960"/>
            <a:ext cx="9326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 dirty="0">
                <a:solidFill>
                  <a:srgbClr val="0052D9"/>
                </a:solidFill>
                <a:latin typeface="Arial"/>
              </a:rPr>
              <a:t>Khi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được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hỏi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“AI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quyết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định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52D9"/>
                </a:solidFill>
                <a:latin typeface="Arial"/>
              </a:rPr>
              <a:t>gì</a:t>
            </a:r>
            <a:r>
              <a:rPr sz="1500" b="1" dirty="0">
                <a:solidFill>
                  <a:srgbClr val="0052D9"/>
                </a:solidFill>
                <a:latin typeface="Arial"/>
              </a:rPr>
              <a:t>?”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172033"/>
                </a:solidFill>
                <a:latin typeface="Arial"/>
              </a:rPr>
              <a:t>AI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chỉ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tự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động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tra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cứu</a:t>
            </a:r>
            <a:r>
              <a:rPr sz="1100" dirty="0">
                <a:solidFill>
                  <a:srgbClr val="172033"/>
                </a:solidFill>
                <a:latin typeface="Arial"/>
              </a:rPr>
              <a:t>/draft Safety Card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trong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phạm</a:t>
            </a:r>
            <a:r>
              <a:rPr sz="1100" dirty="0">
                <a:solidFill>
                  <a:srgbClr val="172033"/>
                </a:solidFill>
                <a:latin typeface="Arial"/>
              </a:rPr>
              <a:t> vi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hẹp</a:t>
            </a:r>
            <a:r>
              <a:rPr sz="1100" dirty="0">
                <a:solidFill>
                  <a:srgbClr val="172033"/>
                </a:solidFill>
                <a:latin typeface="Arial"/>
              </a:rPr>
              <a:t>.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Quyết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định</a:t>
            </a:r>
            <a:r>
              <a:rPr sz="1100" dirty="0">
                <a:solidFill>
                  <a:srgbClr val="172033"/>
                </a:solidFill>
                <a:latin typeface="Arial"/>
              </a:rPr>
              <a:t> y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tế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cuối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vẫn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thuộc</a:t>
            </a:r>
            <a:r>
              <a:rPr sz="1100" dirty="0">
                <a:solidFill>
                  <a:srgbClr val="172033"/>
                </a:solidFill>
                <a:latin typeface="Arial"/>
              </a:rPr>
              <a:t> user/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dược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/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bác</a:t>
            </a:r>
            <a:r>
              <a:rPr sz="1100" dirty="0">
                <a:solidFill>
                  <a:srgbClr val="172033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172033"/>
                </a:solidFill>
                <a:latin typeface="Arial"/>
              </a:rPr>
              <a:t>sĩ</a:t>
            </a:r>
            <a:r>
              <a:rPr sz="110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rial"/>
              </a:rPr>
              <a:t>C1-E403 · Long Châu Safety Bot ·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1692</Words>
  <Application>Microsoft Office PowerPoint</Application>
  <PresentationFormat>Widescreen</PresentationFormat>
  <Paragraphs>229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Châu Safety Bot — Demo Slides</dc:title>
  <dc:subject>Day 6 AI Product Prototype Demo</dc:subject>
  <dc:creator>C1-E403</dc:creator>
  <cp:keywords/>
  <dc:description>generated using python-pptx</dc:description>
  <cp:lastModifiedBy>Thái Nhi</cp:lastModifiedBy>
  <cp:revision>4</cp:revision>
  <dcterms:created xsi:type="dcterms:W3CDTF">2013-01-27T09:14:16Z</dcterms:created>
  <dcterms:modified xsi:type="dcterms:W3CDTF">2026-06-04T20:11:37Z</dcterms:modified>
  <cp:category/>
</cp:coreProperties>
</file>